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5979"/>
    <a:srgbClr val="0E4862"/>
    <a:srgbClr val="0B3B54"/>
    <a:srgbClr val="136387"/>
    <a:srgbClr val="39AE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6045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4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0"/>
            <a:ext cx="4023360" cy="6858000"/>
          </a:xfrm>
          <a:prstGeom prst="rect">
            <a:avLst/>
          </a:prstGeom>
          <a:solidFill>
            <a:srgbClr val="0B3B54"/>
          </a:solidFill>
          <a:ln>
            <a:solidFill>
              <a:srgbClr val="0B3B54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366760" y="411480"/>
            <a:ext cx="3383280" cy="5989320"/>
          </a:xfrm>
          <a:prstGeom prst="rect">
            <a:avLst/>
          </a:prstGeom>
          <a:solidFill>
            <a:srgbClr val="0E4A64">
              <a:alpha val="85000"/>
            </a:srgbClr>
          </a:solidFill>
          <a:ln>
            <a:solidFill>
              <a:srgbClr val="0E4A64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345168" y="777240"/>
            <a:ext cx="1325880" cy="475488"/>
          </a:xfrm>
          <a:prstGeom prst="rect">
            <a:avLst/>
          </a:prstGeom>
          <a:solidFill>
            <a:srgbClr val="00843D"/>
          </a:solidFill>
          <a:ln>
            <a:solidFill>
              <a:srgbClr val="00843D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HBL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59436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AE6B4"/>
                </a:solidFill>
              </a:rPr>
              <a:t>INFORMATION ASSURANCE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" y="1216152"/>
            <a:ext cx="6629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</a:rPr>
              <a:t>Contingency</a:t>
            </a:r>
            <a:endParaRPr lang="en-US" sz="3900" dirty="0"/>
          </a:p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</a:rPr>
              <a:t>Framework for HBL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713232" y="28803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DCE8E0"/>
                </a:solidFill>
              </a:rPr>
              <a:t>A practical framework for compliance, risk management, incident response, business continuity, and disaster recovery.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886200"/>
            <a:ext cx="1371600" cy="310896"/>
          </a:xfrm>
          <a:prstGeom prst="rect">
            <a:avLst/>
          </a:prstGeom>
          <a:solidFill>
            <a:srgbClr val="0B5734"/>
          </a:solidFill>
          <a:ln>
            <a:solidFill>
              <a:srgbClr val="0B5734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E9FFF1"/>
                </a:solidFill>
              </a:rPr>
              <a:t>Compliance</a:t>
            </a:r>
            <a:endParaRPr lang="en-US" sz="1030" dirty="0"/>
          </a:p>
        </p:txBody>
      </p:sp>
      <p:sp>
        <p:nvSpPr>
          <p:cNvPr id="9" name="Text 7"/>
          <p:cNvSpPr/>
          <p:nvPr/>
        </p:nvSpPr>
        <p:spPr>
          <a:xfrm>
            <a:off x="2267712" y="3886200"/>
            <a:ext cx="868680" cy="310896"/>
          </a:xfrm>
          <a:prstGeom prst="rect">
            <a:avLst/>
          </a:prstGeom>
          <a:solidFill>
            <a:srgbClr val="0B5734"/>
          </a:solidFill>
          <a:ln>
            <a:solidFill>
              <a:srgbClr val="0B5734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E9FFF1"/>
                </a:solidFill>
              </a:rPr>
              <a:t>Risk</a:t>
            </a:r>
            <a:endParaRPr lang="en-US" sz="1030" dirty="0"/>
          </a:p>
        </p:txBody>
      </p:sp>
      <p:sp>
        <p:nvSpPr>
          <p:cNvPr id="10" name="Text 8"/>
          <p:cNvSpPr/>
          <p:nvPr/>
        </p:nvSpPr>
        <p:spPr>
          <a:xfrm>
            <a:off x="3310128" y="3886200"/>
            <a:ext cx="713232" cy="310896"/>
          </a:xfrm>
          <a:prstGeom prst="rect">
            <a:avLst/>
          </a:prstGeom>
          <a:solidFill>
            <a:srgbClr val="0B5734"/>
          </a:solidFill>
          <a:ln>
            <a:solidFill>
              <a:srgbClr val="0B5734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E9FFF1"/>
                </a:solidFill>
              </a:rPr>
              <a:t>IRP</a:t>
            </a:r>
            <a:endParaRPr lang="en-US" sz="1030" dirty="0"/>
          </a:p>
        </p:txBody>
      </p:sp>
      <p:sp>
        <p:nvSpPr>
          <p:cNvPr id="11" name="Text 9"/>
          <p:cNvSpPr/>
          <p:nvPr/>
        </p:nvSpPr>
        <p:spPr>
          <a:xfrm>
            <a:off x="4206240" y="3886200"/>
            <a:ext cx="777240" cy="310896"/>
          </a:xfrm>
          <a:prstGeom prst="rect">
            <a:avLst/>
          </a:prstGeom>
          <a:solidFill>
            <a:srgbClr val="0B5734"/>
          </a:solidFill>
          <a:ln>
            <a:solidFill>
              <a:srgbClr val="0B5734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E9FFF1"/>
                </a:solidFill>
              </a:rPr>
              <a:t>BCP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5175504" y="3886200"/>
            <a:ext cx="777240" cy="310896"/>
          </a:xfrm>
          <a:prstGeom prst="rect">
            <a:avLst/>
          </a:prstGeom>
          <a:solidFill>
            <a:srgbClr val="0B5734"/>
          </a:solidFill>
          <a:ln>
            <a:solidFill>
              <a:srgbClr val="0B5734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E9FFF1"/>
                </a:solidFill>
              </a:rPr>
              <a:t>DRP</a:t>
            </a:r>
            <a:endParaRPr lang="en-US" sz="1030" dirty="0"/>
          </a:p>
        </p:txBody>
      </p:sp>
      <p:sp>
        <p:nvSpPr>
          <p:cNvPr id="13" name="Text 11"/>
          <p:cNvSpPr/>
          <p:nvPr/>
        </p:nvSpPr>
        <p:spPr>
          <a:xfrm>
            <a:off x="8805672" y="1920240"/>
            <a:ext cx="2331720" cy="914400"/>
          </a:xfrm>
          <a:prstGeom prst="rect">
            <a:avLst/>
          </a:prstGeom>
          <a:solidFill>
            <a:srgbClr val="115979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 lIns="108000" tIns="108000" rIns="108000" bIns="1080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idea</a:t>
            </a:r>
            <a:endParaRPr lang="en-US" sz="125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250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essential banking services available during disruptive events</a:t>
            </a:r>
            <a:r>
              <a:rPr lang="en-US" sz="1250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805672" y="3063240"/>
            <a:ext cx="2331720" cy="914400"/>
          </a:xfrm>
          <a:prstGeom prst="rect">
            <a:avLst/>
          </a:prstGeom>
          <a:solidFill>
            <a:srgbClr val="115979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 lIns="108000" tIns="108000" rIns="108000" bIns="108000" rtlCol="0" anchor="ctr">
            <a:normAutofit lnSpcReduction="10000"/>
          </a:bodyPr>
          <a:lstStyle/>
          <a:p>
            <a:pPr algn="ctr"/>
            <a:r>
              <a:rPr lang="en-US" sz="1250" b="1" dirty="0">
                <a:solidFill>
                  <a:schemeClr val="bg1"/>
                </a:solidFill>
                <a:latin typeface="Aptos" pitchFamily="34" charset="0"/>
              </a:rPr>
              <a:t>Focus areas</a:t>
            </a:r>
          </a:p>
          <a:p>
            <a:pPr algn="ctr"/>
            <a:r>
              <a:rPr lang="en-US" sz="1250" dirty="0">
                <a:solidFill>
                  <a:schemeClr val="bg1"/>
                </a:solidFill>
                <a:latin typeface="Aptos" pitchFamily="34" charset="0"/>
              </a:rPr>
              <a:t>Testing, awareness, threat intelligence, and recovery readiness.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843D"/>
                </a:solidFill>
              </a:rPr>
              <a:t>EXECUTIVE SUMMARY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8243A"/>
                </a:solidFill>
              </a:rPr>
              <a:t>Framework overview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625328" y="292608"/>
            <a:ext cx="868680" cy="292608"/>
          </a:xfrm>
          <a:prstGeom prst="rect">
            <a:avLst/>
          </a:prstGeom>
          <a:solidFill>
            <a:srgbClr val="00843D"/>
          </a:solidFill>
          <a:ln>
            <a:solidFill>
              <a:srgbClr val="00843D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HBL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1078992"/>
            <a:ext cx="7589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C6B73"/>
                </a:solidFill>
              </a:rPr>
              <a:t>The framework connects regulatory compliance with operational resilience. The aim is to reduce disruption impact, improve response speed, and maintain customer trust.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1874520"/>
            <a:ext cx="2359152" cy="987552"/>
          </a:xfrm>
          <a:prstGeom prst="rect">
            <a:avLst/>
          </a:prstGeom>
          <a:solidFill>
            <a:srgbClr val="FFFFFF"/>
          </a:solidFill>
          <a:ln>
            <a:solidFill>
              <a:srgbClr val="DCE8E0"/>
            </a:solidFill>
          </a:ln>
        </p:spPr>
        <p:txBody>
          <a:bodyPr wrap="square" lIns="108000" tIns="108000" rIns="108000" bIns="10800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SBP • ISO 27001 • PCI DSS • NIST CSF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099816" y="2221992"/>
            <a:ext cx="164592" cy="164592"/>
          </a:xfrm>
          <a:prstGeom prst="chevron">
            <a:avLst/>
          </a:prstGeom>
          <a:solidFill>
            <a:srgbClr val="00843D"/>
          </a:solidFill>
          <a:ln w="12700">
            <a:solidFill>
              <a:srgbClr val="0084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01568" y="1874520"/>
            <a:ext cx="2359152" cy="987552"/>
          </a:xfrm>
          <a:prstGeom prst="rect">
            <a:avLst/>
          </a:prstGeom>
          <a:solidFill>
            <a:srgbClr val="F1FBF6"/>
          </a:solidFill>
          <a:ln>
            <a:solidFill>
              <a:srgbClr val="DCE8E0"/>
            </a:solidFill>
          </a:ln>
        </p:spPr>
        <p:txBody>
          <a:bodyPr wrap="square" lIns="108000" tIns="108000" rIns="108000" bIns="10800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Policies, ownership, audit cycles, reporting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843016" y="2221992"/>
            <a:ext cx="164592" cy="164592"/>
          </a:xfrm>
          <a:prstGeom prst="chevron">
            <a:avLst/>
          </a:prstGeom>
          <a:solidFill>
            <a:srgbClr val="00843D"/>
          </a:solidFill>
          <a:ln w="12700">
            <a:solidFill>
              <a:srgbClr val="0084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44768" y="1874520"/>
            <a:ext cx="2359152" cy="987552"/>
          </a:xfrm>
          <a:prstGeom prst="rect">
            <a:avLst/>
          </a:prstGeom>
          <a:solidFill>
            <a:srgbClr val="FFFFFF"/>
          </a:solidFill>
          <a:ln>
            <a:solidFill>
              <a:srgbClr val="DCE8E0"/>
            </a:solidFill>
          </a:ln>
        </p:spPr>
        <p:txBody>
          <a:bodyPr wrap="square" lIns="108000" tIns="108000" rIns="108000" bIns="108000" rtlCol="0" anchor="ctr">
            <a:normAutofit/>
          </a:bodyPr>
          <a:lstStyle/>
          <a:p>
            <a:pPr marL="0" indent="0">
              <a:buNone/>
            </a:pPr>
            <a:r>
              <a:rPr lang="en-US" sz="1150" b="1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Controls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Monitoring, hardening, vendor compliance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586216" y="2221992"/>
            <a:ext cx="164592" cy="164592"/>
          </a:xfrm>
          <a:prstGeom prst="chevron">
            <a:avLst/>
          </a:prstGeom>
          <a:solidFill>
            <a:srgbClr val="00843D"/>
          </a:solidFill>
          <a:ln w="12700">
            <a:solidFill>
              <a:srgbClr val="0084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87968" y="1874520"/>
            <a:ext cx="2359152" cy="987552"/>
          </a:xfrm>
          <a:prstGeom prst="rect">
            <a:avLst/>
          </a:prstGeom>
          <a:solidFill>
            <a:srgbClr val="F1FBF6"/>
          </a:solidFill>
          <a:ln>
            <a:solidFill>
              <a:srgbClr val="DCE8E0"/>
            </a:solidFill>
          </a:ln>
        </p:spPr>
        <p:txBody>
          <a:bodyPr wrap="square" lIns="108000" tIns="108000" rIns="108000" bIns="10800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Continuity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IRP, BCP, DRP, RTO and RPO alignment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8368" y="3383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243A"/>
                </a:solidFill>
              </a:rPr>
              <a:t>Assessment snapshot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8368" y="3794760"/>
            <a:ext cx="352044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CE8E0"/>
            </a:solidFill>
          </a:ln>
        </p:spPr>
        <p:txBody>
          <a:bodyPr wrap="square" lIns="108000" tIns="108000" rIns="108000" bIns="10800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Established compliance posture and formal risk-management structure.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462272" y="3794760"/>
            <a:ext cx="3520440" cy="1051560"/>
          </a:xfrm>
          <a:prstGeom prst="rect">
            <a:avLst/>
          </a:prstGeom>
          <a:solidFill>
            <a:srgbClr val="FFF8EA"/>
          </a:solidFill>
          <a:ln>
            <a:solidFill>
              <a:srgbClr val="F7D597"/>
            </a:solidFill>
          </a:ln>
        </p:spPr>
        <p:txBody>
          <a:bodyPr wrap="square" lIns="108000" tIns="108000" rIns="108000" bIns="10800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Limited real-time testing, staff awareness depth, and threat intelligence maturity.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75320" y="3794760"/>
            <a:ext cx="2834640" cy="1051560"/>
          </a:xfrm>
          <a:prstGeom prst="rect">
            <a:avLst/>
          </a:prstGeom>
          <a:solidFill>
            <a:srgbClr val="EEF7FF"/>
          </a:solidFill>
          <a:ln>
            <a:solidFill>
              <a:srgbClr val="BFD8FF"/>
            </a:solidFill>
          </a:ln>
        </p:spPr>
        <p:txBody>
          <a:bodyPr wrap="square" lIns="108000" tIns="108000" rIns="108000" bIns="10800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monitoring, regular drills, automated alerts, and executive reporting.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60120" y="544068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843D"/>
                </a:solidFill>
              </a:rPr>
              <a:t>Outcome: a layered operating model that keeps critical banking functions recoverable and auditable.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" y="651052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B7B83"/>
                </a:solidFill>
              </a:rPr>
              <a:t>Information Assurance  •  HBL Contingency Framework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843D"/>
                </a:solidFill>
              </a:rPr>
              <a:t>02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6364224"/>
            <a:ext cx="11201400" cy="13716"/>
          </a:xfrm>
          <a:prstGeom prst="rect">
            <a:avLst/>
          </a:prstGeom>
          <a:solidFill>
            <a:srgbClr val="E7EEF2"/>
          </a:solidFill>
          <a:ln>
            <a:solidFill>
              <a:srgbClr val="E7EEF2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843D"/>
                </a:solidFill>
              </a:rPr>
              <a:t>STANDARDS ALIGNMENT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8243A"/>
                </a:solidFill>
              </a:rPr>
              <a:t>Compliance framework analysis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625328" y="292608"/>
            <a:ext cx="868680" cy="292608"/>
          </a:xfrm>
          <a:prstGeom prst="rect">
            <a:avLst/>
          </a:prstGeom>
          <a:solidFill>
            <a:srgbClr val="00843D"/>
          </a:solidFill>
          <a:ln>
            <a:solidFill>
              <a:srgbClr val="00843D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HBL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1024128"/>
            <a:ext cx="74980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5C6B73"/>
                </a:solidFill>
              </a:rPr>
              <a:t>The framework maps HBL’s controls against financial-sector requirements and internationally recognized security practices.</a:t>
            </a:r>
            <a:endParaRPr lang="en-US" sz="1360" dirty="0"/>
          </a:p>
        </p:txBody>
      </p:sp>
      <p:sp>
        <p:nvSpPr>
          <p:cNvPr id="6" name="Text 4"/>
          <p:cNvSpPr/>
          <p:nvPr/>
        </p:nvSpPr>
        <p:spPr>
          <a:xfrm>
            <a:off x="713232" y="1783080"/>
            <a:ext cx="4983480" cy="1078992"/>
          </a:xfrm>
          <a:prstGeom prst="rect">
            <a:avLst/>
          </a:prstGeom>
          <a:solidFill>
            <a:srgbClr val="EAF8F0"/>
          </a:solidFill>
          <a:ln>
            <a:solidFill>
              <a:srgbClr val="DCE8E0"/>
            </a:solidFill>
          </a:ln>
        </p:spPr>
        <p:txBody>
          <a:bodyPr wrap="square" lIns="108000" tIns="108000" rIns="108000" bIns="10800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SBP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Regulatory obligations, operational risk, cyber resilience expectations</a:t>
            </a:r>
            <a:endParaRPr lang="en-US" sz="1260" dirty="0"/>
          </a:p>
        </p:txBody>
      </p:sp>
      <p:sp>
        <p:nvSpPr>
          <p:cNvPr id="7" name="Text 5"/>
          <p:cNvSpPr/>
          <p:nvPr/>
        </p:nvSpPr>
        <p:spPr>
          <a:xfrm>
            <a:off x="713232" y="3246120"/>
            <a:ext cx="4983480" cy="1078992"/>
          </a:xfrm>
          <a:prstGeom prst="rect">
            <a:avLst/>
          </a:prstGeom>
          <a:solidFill>
            <a:srgbClr val="F4FAFF"/>
          </a:solidFill>
          <a:ln>
            <a:solidFill>
              <a:srgbClr val="DCE8E0"/>
            </a:solidFill>
          </a:ln>
        </p:spPr>
        <p:txBody>
          <a:bodyPr wrap="square" lIns="108000" tIns="108000" rIns="108000" bIns="10800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 27001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 Security Management System, policies, risk treatment</a:t>
            </a:r>
            <a:endParaRPr lang="en-US" sz="1260" dirty="0"/>
          </a:p>
        </p:txBody>
      </p:sp>
      <p:sp>
        <p:nvSpPr>
          <p:cNvPr id="8" name="Text 6"/>
          <p:cNvSpPr/>
          <p:nvPr/>
        </p:nvSpPr>
        <p:spPr>
          <a:xfrm>
            <a:off x="6382512" y="1783080"/>
            <a:ext cx="4983480" cy="1078992"/>
          </a:xfrm>
          <a:prstGeom prst="rect">
            <a:avLst/>
          </a:prstGeom>
          <a:solidFill>
            <a:srgbClr val="FFF6E8"/>
          </a:solidFill>
          <a:ln>
            <a:solidFill>
              <a:srgbClr val="DCE8E0"/>
            </a:solidFill>
          </a:ln>
        </p:spPr>
        <p:txBody>
          <a:bodyPr wrap="square" lIns="108000" tIns="108000" rIns="108000" bIns="10800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PCI DSS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Cardholder data protection and payment environment controls</a:t>
            </a:r>
            <a:endParaRPr lang="en-US" sz="1260" dirty="0"/>
          </a:p>
        </p:txBody>
      </p:sp>
      <p:sp>
        <p:nvSpPr>
          <p:cNvPr id="9" name="Text 7"/>
          <p:cNvSpPr/>
          <p:nvPr/>
        </p:nvSpPr>
        <p:spPr>
          <a:xfrm>
            <a:off x="6382512" y="3246120"/>
            <a:ext cx="4983480" cy="1078992"/>
          </a:xfrm>
          <a:prstGeom prst="rect">
            <a:avLst/>
          </a:prstGeom>
          <a:solidFill>
            <a:srgbClr val="F3F5F7"/>
          </a:solidFill>
          <a:ln>
            <a:solidFill>
              <a:srgbClr val="DCE8E0"/>
            </a:solidFill>
          </a:ln>
        </p:spPr>
        <p:txBody>
          <a:bodyPr wrap="square" lIns="108000" tIns="36000" rIns="108000" bIns="10800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CSF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Identify, Protect, Detect, Respond, Recover functions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777240" y="48280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8243A"/>
                </a:solidFill>
              </a:rPr>
              <a:t>Adherence view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2880360" y="4718304"/>
            <a:ext cx="1922526" cy="594360"/>
          </a:xfrm>
          <a:prstGeom prst="rect">
            <a:avLst/>
          </a:prstGeom>
          <a:solidFill>
            <a:srgbClr val="EAF8F0"/>
          </a:solidFill>
          <a:ln>
            <a:solidFill>
              <a:srgbClr val="EAF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43A"/>
                </a:solidFill>
              </a:rPr>
              <a:t>Documented controls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76038" y="4718304"/>
            <a:ext cx="1922526" cy="594360"/>
          </a:xfrm>
          <a:prstGeom prst="rect">
            <a:avLst/>
          </a:prstGeom>
          <a:solidFill>
            <a:srgbClr val="EEF7FF"/>
          </a:solidFill>
          <a:ln>
            <a:solidFill>
              <a:srgbClr val="EEF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43A"/>
                </a:solidFill>
              </a:rPr>
              <a:t>Regular audits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871716" y="4718304"/>
            <a:ext cx="1922526" cy="594360"/>
          </a:xfrm>
          <a:prstGeom prst="rect">
            <a:avLst/>
          </a:prstGeom>
          <a:solidFill>
            <a:srgbClr val="FFF6E8"/>
          </a:solidFill>
          <a:ln>
            <a:solidFill>
              <a:srgbClr val="FFF6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43A"/>
                </a:solidFill>
              </a:rPr>
              <a:t>Defined gaps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867394" y="4718304"/>
            <a:ext cx="1922526" cy="594360"/>
          </a:xfrm>
          <a:prstGeom prst="rect">
            <a:avLst/>
          </a:prstGeom>
          <a:solidFill>
            <a:srgbClr val="EAF8F0"/>
          </a:solidFill>
          <a:ln>
            <a:solidFill>
              <a:srgbClr val="EAF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43A"/>
                </a:solidFill>
              </a:rPr>
              <a:t>Improvement roadmap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651052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B7B83"/>
                </a:solidFill>
              </a:rPr>
              <a:t>Information Assurance  •  HBL Contingency Framework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843D"/>
                </a:solidFill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6364224"/>
            <a:ext cx="11201400" cy="13716"/>
          </a:xfrm>
          <a:prstGeom prst="rect">
            <a:avLst/>
          </a:prstGeom>
          <a:solidFill>
            <a:srgbClr val="E7EEF2"/>
          </a:solidFill>
          <a:ln>
            <a:solidFill>
              <a:srgbClr val="E7EEF2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843D"/>
                </a:solidFill>
              </a:rPr>
              <a:t>RISK VIEW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8243A"/>
                </a:solidFill>
              </a:rPr>
              <a:t>Risk assessment and management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625328" y="292608"/>
            <a:ext cx="868680" cy="292608"/>
          </a:xfrm>
          <a:prstGeom prst="rect">
            <a:avLst/>
          </a:prstGeom>
          <a:solidFill>
            <a:srgbClr val="00843D"/>
          </a:solidFill>
          <a:ln>
            <a:solidFill>
              <a:srgbClr val="00843D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HBL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1024128"/>
            <a:ext cx="804672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C6B73"/>
                </a:solidFill>
              </a:rPr>
              <a:t>Risk handling should prioritize events with high business impact and realistic likelihood, then validate control effectiveness through testing.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 rot="16200000">
            <a:off x="164592" y="3063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243A"/>
                </a:solidFill>
              </a:rPr>
              <a:t>Impact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606040" y="54406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243A"/>
                </a:solidFill>
              </a:rPr>
              <a:t>Likelihood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4544568"/>
            <a:ext cx="676656" cy="676656"/>
          </a:xfrm>
          <a:prstGeom prst="rect">
            <a:avLst/>
          </a:prstGeom>
          <a:solidFill>
            <a:srgbClr val="EAF8F0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673352" y="4544568"/>
            <a:ext cx="676656" cy="676656"/>
          </a:xfrm>
          <a:prstGeom prst="rect">
            <a:avLst/>
          </a:prstGeom>
          <a:solidFill>
            <a:srgbClr val="EAF8F0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386584" y="4544568"/>
            <a:ext cx="676656" cy="676656"/>
          </a:xfrm>
          <a:prstGeom prst="rect">
            <a:avLst/>
          </a:prstGeom>
          <a:solidFill>
            <a:srgbClr val="F2F8E9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099816" y="4544568"/>
            <a:ext cx="676656" cy="676656"/>
          </a:xfrm>
          <a:prstGeom prst="rect">
            <a:avLst/>
          </a:prstGeom>
          <a:solidFill>
            <a:srgbClr val="F2F8E9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13048" y="4544568"/>
            <a:ext cx="676656" cy="676656"/>
          </a:xfrm>
          <a:prstGeom prst="rect">
            <a:avLst/>
          </a:prstGeom>
          <a:solidFill>
            <a:srgbClr val="FFF4C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60120" y="3831336"/>
            <a:ext cx="676656" cy="676656"/>
          </a:xfrm>
          <a:prstGeom prst="rect">
            <a:avLst/>
          </a:prstGeom>
          <a:solidFill>
            <a:srgbClr val="EAF8F0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673352" y="3831336"/>
            <a:ext cx="676656" cy="676656"/>
          </a:xfrm>
          <a:prstGeom prst="rect">
            <a:avLst/>
          </a:prstGeom>
          <a:solidFill>
            <a:srgbClr val="F2F8E9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386584" y="3831336"/>
            <a:ext cx="676656" cy="676656"/>
          </a:xfrm>
          <a:prstGeom prst="rect">
            <a:avLst/>
          </a:prstGeom>
          <a:solidFill>
            <a:srgbClr val="F2F8E9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099816" y="3831336"/>
            <a:ext cx="676656" cy="676656"/>
          </a:xfrm>
          <a:prstGeom prst="rect">
            <a:avLst/>
          </a:prstGeom>
          <a:solidFill>
            <a:srgbClr val="FFF4C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813048" y="3831336"/>
            <a:ext cx="676656" cy="676656"/>
          </a:xfrm>
          <a:prstGeom prst="rect">
            <a:avLst/>
          </a:prstGeom>
          <a:solidFill>
            <a:srgbClr val="FFF4C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60120" y="3118104"/>
            <a:ext cx="676656" cy="676656"/>
          </a:xfrm>
          <a:prstGeom prst="rect">
            <a:avLst/>
          </a:prstGeom>
          <a:solidFill>
            <a:srgbClr val="F2F8E9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673352" y="3118104"/>
            <a:ext cx="676656" cy="676656"/>
          </a:xfrm>
          <a:prstGeom prst="rect">
            <a:avLst/>
          </a:prstGeom>
          <a:solidFill>
            <a:srgbClr val="F2F8E9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386584" y="3118104"/>
            <a:ext cx="676656" cy="676656"/>
          </a:xfrm>
          <a:prstGeom prst="rect">
            <a:avLst/>
          </a:prstGeom>
          <a:solidFill>
            <a:srgbClr val="FFF4C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099816" y="3118104"/>
            <a:ext cx="676656" cy="676656"/>
          </a:xfrm>
          <a:prstGeom prst="rect">
            <a:avLst/>
          </a:prstGeom>
          <a:solidFill>
            <a:srgbClr val="FFF4C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813048" y="3118104"/>
            <a:ext cx="676656" cy="676656"/>
          </a:xfrm>
          <a:prstGeom prst="rect">
            <a:avLst/>
          </a:prstGeom>
          <a:solidFill>
            <a:srgbClr val="FCE2B7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60120" y="2404872"/>
            <a:ext cx="676656" cy="676656"/>
          </a:xfrm>
          <a:prstGeom prst="rect">
            <a:avLst/>
          </a:prstGeom>
          <a:solidFill>
            <a:srgbClr val="F2F8E9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673352" y="2404872"/>
            <a:ext cx="676656" cy="676656"/>
          </a:xfrm>
          <a:prstGeom prst="rect">
            <a:avLst/>
          </a:prstGeom>
          <a:solidFill>
            <a:srgbClr val="FFF4C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386584" y="2404872"/>
            <a:ext cx="676656" cy="676656"/>
          </a:xfrm>
          <a:prstGeom prst="rect">
            <a:avLst/>
          </a:prstGeom>
          <a:solidFill>
            <a:srgbClr val="FFF4C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843D"/>
                </a:solidFill>
              </a:rPr>
              <a:t>ND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099816" y="2404872"/>
            <a:ext cx="676656" cy="676656"/>
          </a:xfrm>
          <a:prstGeom prst="rect">
            <a:avLst/>
          </a:prstGeom>
          <a:solidFill>
            <a:srgbClr val="FCE2B7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43A"/>
                </a:solidFill>
              </a:rPr>
              <a:t>VO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813048" y="2404872"/>
            <a:ext cx="676656" cy="676656"/>
          </a:xfrm>
          <a:prstGeom prst="rect">
            <a:avLst/>
          </a:prstGeom>
          <a:solidFill>
            <a:srgbClr val="FCE2B7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43A"/>
                </a:solidFill>
              </a:rPr>
              <a:t>PD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60120" y="1691640"/>
            <a:ext cx="676656" cy="676656"/>
          </a:xfrm>
          <a:prstGeom prst="rect">
            <a:avLst/>
          </a:prstGeom>
          <a:solidFill>
            <a:srgbClr val="FFF4C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673352" y="1691640"/>
            <a:ext cx="676656" cy="676656"/>
          </a:xfrm>
          <a:prstGeom prst="rect">
            <a:avLst/>
          </a:prstGeom>
          <a:solidFill>
            <a:srgbClr val="FFF4C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386584" y="1691640"/>
            <a:ext cx="676656" cy="676656"/>
          </a:xfrm>
          <a:prstGeom prst="rect">
            <a:avLst/>
          </a:prstGeom>
          <a:solidFill>
            <a:srgbClr val="FCE2B7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099816" y="1691640"/>
            <a:ext cx="676656" cy="676656"/>
          </a:xfrm>
          <a:prstGeom prst="rect">
            <a:avLst/>
          </a:prstGeom>
          <a:solidFill>
            <a:srgbClr val="FCE2B7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43A"/>
                </a:solidFill>
              </a:rPr>
              <a:t>DC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813048" y="1691640"/>
            <a:ext cx="676656" cy="676656"/>
          </a:xfrm>
          <a:prstGeom prst="rect">
            <a:avLst/>
          </a:prstGeom>
          <a:solidFill>
            <a:srgbClr val="F9C8B8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43A"/>
                </a:solidFill>
              </a:rPr>
              <a:t>CB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92040" y="16733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243A"/>
                </a:solidFill>
              </a:rPr>
              <a:t>Key risk drivers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892040" y="2084832"/>
            <a:ext cx="2834640" cy="713232"/>
          </a:xfrm>
          <a:prstGeom prst="rect">
            <a:avLst/>
          </a:prstGeom>
          <a:solidFill>
            <a:srgbClr val="FFF6F0"/>
          </a:solidFill>
          <a:ln>
            <a:solidFill>
              <a:srgbClr val="F8C9B7"/>
            </a:solidFill>
          </a:ln>
        </p:spPr>
        <p:txBody>
          <a:bodyPr wrap="square" lIns="108000" tIns="108000" rIns="108000" bIns="10800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Cybersecurity breach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Credential misuse, malware, fraud, or data exposure.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92040" y="2953512"/>
            <a:ext cx="2834640" cy="713232"/>
          </a:xfrm>
          <a:prstGeom prst="rect">
            <a:avLst/>
          </a:prstGeom>
          <a:solidFill>
            <a:srgbClr val="FFF8EA"/>
          </a:solidFill>
          <a:ln>
            <a:solidFill>
              <a:srgbClr val="F7D597"/>
            </a:solidFill>
          </a:ln>
        </p:spPr>
        <p:txBody>
          <a:bodyPr wrap="square" lIns="108000" tIns="108000" rIns="108000" bIns="10800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disruption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Data-center, cloud, network, or third-party outage.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92040" y="3822192"/>
            <a:ext cx="2834640" cy="713232"/>
          </a:xfrm>
          <a:prstGeom prst="rect">
            <a:avLst/>
          </a:prstGeom>
          <a:solidFill>
            <a:srgbClr val="F3F5F7"/>
          </a:solidFill>
          <a:ln>
            <a:solidFill>
              <a:srgbClr val="D7E0E5"/>
            </a:solidFill>
          </a:ln>
        </p:spPr>
        <p:txBody>
          <a:bodyPr wrap="square" lIns="108000" tIns="108000" rIns="108000" bIns="10800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 failure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 evidence, missed controls, or audit gaps.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275320" y="16733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243A"/>
                </a:solidFill>
              </a:rPr>
              <a:t>Management actions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275320" y="2121408"/>
            <a:ext cx="653796" cy="502920"/>
          </a:xfrm>
          <a:prstGeom prst="rect">
            <a:avLst/>
          </a:prstGeom>
          <a:solidFill>
            <a:srgbClr val="EAF8F0"/>
          </a:solidFill>
          <a:ln>
            <a:solidFill>
              <a:srgbClr val="EAF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43A"/>
                </a:solidFill>
              </a:rPr>
              <a:t>Assess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002268" y="2121408"/>
            <a:ext cx="653796" cy="502920"/>
          </a:xfrm>
          <a:prstGeom prst="rect">
            <a:avLst/>
          </a:prstGeom>
          <a:solidFill>
            <a:srgbClr val="EEF7FF"/>
          </a:solidFill>
          <a:ln>
            <a:solidFill>
              <a:srgbClr val="EEF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43A"/>
                </a:solidFill>
              </a:rPr>
              <a:t>Prioritize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729216" y="2121408"/>
            <a:ext cx="653796" cy="502920"/>
          </a:xfrm>
          <a:prstGeom prst="rect">
            <a:avLst/>
          </a:prstGeom>
          <a:solidFill>
            <a:srgbClr val="FFF6E8"/>
          </a:solidFill>
          <a:ln>
            <a:solidFill>
              <a:srgbClr val="FFF6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43A"/>
                </a:solidFill>
              </a:rPr>
              <a:t>Mitigate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0456164" y="2121408"/>
            <a:ext cx="653796" cy="502920"/>
          </a:xfrm>
          <a:prstGeom prst="rect">
            <a:avLst/>
          </a:prstGeom>
          <a:solidFill>
            <a:srgbClr val="EAF8F0"/>
          </a:solidFill>
          <a:ln>
            <a:solidFill>
              <a:srgbClr val="EAF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43A"/>
                </a:solidFill>
              </a:rPr>
              <a:t>Validate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275320" y="2953512"/>
            <a:ext cx="28346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DCE8E0"/>
            </a:solidFill>
          </a:ln>
        </p:spPr>
        <p:txBody>
          <a:bodyPr wrap="square" lIns="108000" tIns="108000" rIns="108000" bIns="10800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improvements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Regular risk assessments, AI-driven detection, intrusion monitoring, system hardening, and patch governance.</a:t>
            </a:r>
            <a:endParaRPr lang="en-US" sz="1220" dirty="0"/>
          </a:p>
        </p:txBody>
      </p:sp>
      <p:sp>
        <p:nvSpPr>
          <p:cNvPr id="43" name="Text 41"/>
          <p:cNvSpPr/>
          <p:nvPr/>
        </p:nvSpPr>
        <p:spPr>
          <a:xfrm>
            <a:off x="502920" y="651052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B7B83"/>
                </a:solidFill>
              </a:rPr>
              <a:t>Information Assurance  •  HBL Contingency Framework</a:t>
            </a:r>
            <a:endParaRPr lang="en-US" sz="780" dirty="0"/>
          </a:p>
        </p:txBody>
      </p:sp>
      <p:sp>
        <p:nvSpPr>
          <p:cNvPr id="44" name="Text 42"/>
          <p:cNvSpPr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843D"/>
                </a:solidFill>
              </a:rPr>
              <a:t>04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02920" y="6364224"/>
            <a:ext cx="11201400" cy="13716"/>
          </a:xfrm>
          <a:prstGeom prst="rect">
            <a:avLst/>
          </a:prstGeom>
          <a:solidFill>
            <a:srgbClr val="E7EEF2"/>
          </a:solidFill>
          <a:ln>
            <a:solidFill>
              <a:srgbClr val="E7EEF2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843D"/>
                </a:solidFill>
              </a:rPr>
              <a:t>CONTINUOUS ASSURANCE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8243A"/>
                </a:solidFill>
              </a:rPr>
              <a:t>Compliance monitoring and auditing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625328" y="292608"/>
            <a:ext cx="868680" cy="292608"/>
          </a:xfrm>
          <a:prstGeom prst="rect">
            <a:avLst/>
          </a:prstGeom>
          <a:solidFill>
            <a:srgbClr val="00843D"/>
          </a:solidFill>
          <a:ln>
            <a:solidFill>
              <a:srgbClr val="00843D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HBL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1024128"/>
            <a:ext cx="7863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70" dirty="0">
                <a:solidFill>
                  <a:srgbClr val="5C6B73"/>
                </a:solidFill>
              </a:rPr>
              <a:t>Auditing should move from periodic evidence collection to continuous control validation wherever possible.</a:t>
            </a:r>
            <a:endParaRPr lang="en-US" sz="137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2108606" cy="658368"/>
          </a:xfrm>
          <a:prstGeom prst="rect">
            <a:avLst/>
          </a:prstGeom>
          <a:solidFill>
            <a:srgbClr val="EAF8F0"/>
          </a:solidFill>
          <a:ln>
            <a:solidFill>
              <a:srgbClr val="EAF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43A"/>
                </a:solidFill>
              </a:rPr>
              <a:t>Control baseline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867558" y="1783080"/>
            <a:ext cx="2108606" cy="658368"/>
          </a:xfrm>
          <a:prstGeom prst="rect">
            <a:avLst/>
          </a:prstGeom>
          <a:solidFill>
            <a:srgbClr val="F4FAFF"/>
          </a:solidFill>
          <a:ln>
            <a:solidFill>
              <a:srgbClr val="F4FA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43A"/>
                </a:solidFill>
              </a:rPr>
              <a:t>Continuous monitoring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49317" y="1783080"/>
            <a:ext cx="2108606" cy="658368"/>
          </a:xfrm>
          <a:prstGeom prst="rect">
            <a:avLst/>
          </a:prstGeom>
          <a:solidFill>
            <a:srgbClr val="FFF6E8"/>
          </a:solidFill>
          <a:ln>
            <a:solidFill>
              <a:srgbClr val="FFF6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43A"/>
                </a:solidFill>
              </a:rPr>
              <a:t>Internal audit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231075" y="1783080"/>
            <a:ext cx="2108606" cy="658368"/>
          </a:xfrm>
          <a:prstGeom prst="rect">
            <a:avLst/>
          </a:prstGeom>
          <a:solidFill>
            <a:srgbClr val="F3F5F7"/>
          </a:solidFill>
          <a:ln>
            <a:solidFill>
              <a:srgbClr val="F3F5F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43A"/>
                </a:solidFill>
              </a:rPr>
              <a:t>External review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412834" y="1783080"/>
            <a:ext cx="2108606" cy="658368"/>
          </a:xfrm>
          <a:prstGeom prst="rect">
            <a:avLst/>
          </a:prstGeom>
          <a:solidFill>
            <a:srgbClr val="EAF8F0"/>
          </a:solidFill>
          <a:ln>
            <a:solidFill>
              <a:srgbClr val="EAF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43A"/>
                </a:solidFill>
              </a:rPr>
              <a:t>Remediation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49808" y="2880360"/>
            <a:ext cx="3246120" cy="1225296"/>
          </a:xfrm>
          <a:prstGeom prst="rect">
            <a:avLst/>
          </a:prstGeom>
          <a:solidFill>
            <a:srgbClr val="FFFFFF"/>
          </a:solidFill>
          <a:ln>
            <a:solidFill>
              <a:srgbClr val="DCE8E0"/>
            </a:solidFill>
          </a:ln>
        </p:spPr>
        <p:txBody>
          <a:bodyPr wrap="square" lIns="108000" tIns="108000" rIns="108000" bIns="10800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processes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and external audits verify regulatory adherence, security-control effectiveness, and policy compliance.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462272" y="2880360"/>
            <a:ext cx="3246120" cy="1225296"/>
          </a:xfrm>
          <a:prstGeom prst="rect">
            <a:avLst/>
          </a:prstGeom>
          <a:solidFill>
            <a:srgbClr val="FFF8EA"/>
          </a:solidFill>
          <a:ln>
            <a:solidFill>
              <a:srgbClr val="F7D597"/>
            </a:solidFill>
          </a:ln>
        </p:spPr>
        <p:txBody>
          <a:bodyPr wrap="square" lIns="108000" tIns="108000" rIns="108000" bIns="10800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findings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gaps include data monitoring, vendor oversight, and incident-response evidence.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183880" y="2880360"/>
            <a:ext cx="2971800" cy="1225296"/>
          </a:xfrm>
          <a:prstGeom prst="rect">
            <a:avLst/>
          </a:prstGeom>
          <a:solidFill>
            <a:srgbClr val="EEF7FF"/>
          </a:solidFill>
          <a:ln>
            <a:solidFill>
              <a:srgbClr val="BFD8FF"/>
            </a:solidFill>
          </a:ln>
        </p:spPr>
        <p:txBody>
          <a:bodyPr wrap="square" lIns="108000" tIns="108000" rIns="108000" bIns="10800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Enhancements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monitoring, quarterly reviews, predictive analytics, and executive dashboards.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60120" y="489204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843D"/>
                </a:solidFill>
              </a:rPr>
              <a:t>Audit evidence should answer three questions: what changed, who approved it, and how quickly the control recovered.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" y="651052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B7B83"/>
                </a:solidFill>
              </a:rPr>
              <a:t>Information Assurance  •  HBL Contingency Framework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843D"/>
                </a:solidFill>
              </a:rPr>
              <a:t>05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6364224"/>
            <a:ext cx="11201400" cy="13716"/>
          </a:xfrm>
          <a:prstGeom prst="rect">
            <a:avLst/>
          </a:prstGeom>
          <a:solidFill>
            <a:srgbClr val="E7EEF2"/>
          </a:solidFill>
          <a:ln>
            <a:solidFill>
              <a:srgbClr val="E7EEF2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843D"/>
                </a:solidFill>
              </a:rPr>
              <a:t>HUMAN RESILIENCE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8243A"/>
                </a:solidFill>
              </a:rPr>
              <a:t>Employee training and awareness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625328" y="292608"/>
            <a:ext cx="868680" cy="292608"/>
          </a:xfrm>
          <a:prstGeom prst="rect">
            <a:avLst/>
          </a:prstGeom>
          <a:solidFill>
            <a:srgbClr val="00843D"/>
          </a:solidFill>
          <a:ln>
            <a:solidFill>
              <a:srgbClr val="00843D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HBL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1024128"/>
            <a:ext cx="80467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C6B73"/>
                </a:solidFill>
              </a:rPr>
              <a:t>Training converts policies into daily habits. Each audience needs role-based scenarios, practical drills, and clear reporting channels.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74520"/>
            <a:ext cx="384048" cy="384048"/>
          </a:xfrm>
          <a:prstGeom prst="rect">
            <a:avLst/>
          </a:prstGeom>
          <a:solidFill>
            <a:srgbClr val="00843D"/>
          </a:solidFill>
          <a:ln>
            <a:solidFill>
              <a:srgbClr val="00843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07008" y="1755648"/>
            <a:ext cx="2651760" cy="1188720"/>
          </a:xfrm>
          <a:prstGeom prst="rect">
            <a:avLst/>
          </a:prstGeom>
          <a:solidFill>
            <a:srgbClr val="EAF8F0"/>
          </a:solidFill>
          <a:ln>
            <a:solidFill>
              <a:srgbClr val="DCE8E0"/>
            </a:solidFill>
          </a:ln>
        </p:spPr>
        <p:txBody>
          <a:bodyPr wrap="square" lIns="108000" tIns="108000" rIns="108000" bIns="10800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Cybersecurity basics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Phishing, password hygiene, secure computing, data handling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80560" y="1874520"/>
            <a:ext cx="384048" cy="38404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755648"/>
            <a:ext cx="2651760" cy="1188720"/>
          </a:xfrm>
          <a:prstGeom prst="rect">
            <a:avLst/>
          </a:prstGeom>
          <a:solidFill>
            <a:srgbClr val="EEF7FF"/>
          </a:solidFill>
          <a:ln>
            <a:solidFill>
              <a:srgbClr val="DCE8E0"/>
            </a:solidFill>
          </a:ln>
        </p:spPr>
        <p:txBody>
          <a:bodyPr wrap="square" lIns="108000" tIns="108000" rIns="108000" bIns="10800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 response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Detection, escalation, containment, evidence preservation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11312" y="1874520"/>
            <a:ext cx="384048" cy="38404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68512" y="1755648"/>
            <a:ext cx="2651760" cy="1188720"/>
          </a:xfrm>
          <a:prstGeom prst="rect">
            <a:avLst/>
          </a:prstGeom>
          <a:solidFill>
            <a:srgbClr val="FFF6E8"/>
          </a:solidFill>
          <a:ln>
            <a:solidFill>
              <a:srgbClr val="DCE8E0"/>
            </a:solidFill>
          </a:ln>
        </p:spPr>
        <p:txBody>
          <a:bodyPr wrap="square" lIns="108000" tIns="108000" rIns="108000" bIns="10800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continuity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Roles, alternate work sites, communications, service priorities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3749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243A"/>
                </a:solidFill>
              </a:rPr>
              <a:t>Measurement plan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9808" y="4160520"/>
            <a:ext cx="2062886" cy="658368"/>
          </a:xfrm>
          <a:prstGeom prst="rect">
            <a:avLst/>
          </a:prstGeom>
          <a:solidFill>
            <a:srgbClr val="EAF8F0"/>
          </a:solidFill>
          <a:ln>
            <a:solidFill>
              <a:srgbClr val="EAF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43A"/>
                </a:solidFill>
              </a:rPr>
              <a:t>Phishing drills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885846" y="4160520"/>
            <a:ext cx="2062886" cy="658368"/>
          </a:xfrm>
          <a:prstGeom prst="rect">
            <a:avLst/>
          </a:prstGeom>
          <a:solidFill>
            <a:srgbClr val="EEF7FF"/>
          </a:solidFill>
          <a:ln>
            <a:solidFill>
              <a:srgbClr val="EEF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43A"/>
                </a:solidFill>
              </a:rPr>
              <a:t>Tabletop exercises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1885" y="4160520"/>
            <a:ext cx="2062886" cy="658368"/>
          </a:xfrm>
          <a:prstGeom prst="rect">
            <a:avLst/>
          </a:prstGeom>
          <a:solidFill>
            <a:srgbClr val="FFF6E8"/>
          </a:solidFill>
          <a:ln>
            <a:solidFill>
              <a:srgbClr val="FFF6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43A"/>
                </a:solidFill>
              </a:rPr>
              <a:t>SLA checks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157923" y="4160520"/>
            <a:ext cx="2062886" cy="658368"/>
          </a:xfrm>
          <a:prstGeom prst="rect">
            <a:avLst/>
          </a:prstGeom>
          <a:solidFill>
            <a:srgbClr val="F3F5F7"/>
          </a:solidFill>
          <a:ln>
            <a:solidFill>
              <a:srgbClr val="F3F5F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43A"/>
                </a:solidFill>
              </a:rPr>
              <a:t>Quiz scores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293962" y="4160520"/>
            <a:ext cx="2062886" cy="658368"/>
          </a:xfrm>
          <a:prstGeom prst="rect">
            <a:avLst/>
          </a:prstGeom>
          <a:solidFill>
            <a:srgbClr val="EAF8F0"/>
          </a:solidFill>
          <a:ln>
            <a:solidFill>
              <a:srgbClr val="EAF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43A"/>
                </a:solidFill>
              </a:rPr>
              <a:t>Lessons learned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60120" y="530352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843D"/>
                </a:solidFill>
              </a:rPr>
              <a:t>Recommended cadence: onboarding training, quarterly refreshers, and post-incident micro-lessons.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B7B83"/>
                </a:solidFill>
              </a:rPr>
              <a:t>Information Assurance  •  HBL Contingency Framework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843D"/>
                </a:solidFill>
              </a:rPr>
              <a:t>06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" y="6364224"/>
            <a:ext cx="11201400" cy="13716"/>
          </a:xfrm>
          <a:prstGeom prst="rect">
            <a:avLst/>
          </a:prstGeom>
          <a:solidFill>
            <a:srgbClr val="E7EEF2"/>
          </a:solidFill>
          <a:ln>
            <a:solidFill>
              <a:srgbClr val="E7EEF2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843D"/>
                </a:solidFill>
              </a:rPr>
              <a:t>OPERATIONAL RESILIENCE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8243A"/>
                </a:solidFill>
              </a:rPr>
              <a:t>Contingency plan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625328" y="292608"/>
            <a:ext cx="868680" cy="292608"/>
          </a:xfrm>
          <a:prstGeom prst="rect">
            <a:avLst/>
          </a:prstGeom>
          <a:solidFill>
            <a:srgbClr val="00843D"/>
          </a:solidFill>
          <a:ln>
            <a:solidFill>
              <a:srgbClr val="00843D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HBL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1024128"/>
            <a:ext cx="82296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C6B73"/>
                </a:solidFill>
              </a:rPr>
              <a:t>The plan keeps vital operations running during disruptions by linking threats, critical functions, backups, and recovery targets.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13232" y="1783080"/>
            <a:ext cx="2926080" cy="932688"/>
          </a:xfrm>
          <a:prstGeom prst="rect">
            <a:avLst/>
          </a:prstGeom>
          <a:solidFill>
            <a:srgbClr val="FFF6F0"/>
          </a:solidFill>
          <a:ln>
            <a:solidFill>
              <a:srgbClr val="F8C9B7"/>
            </a:solidFill>
          </a:ln>
        </p:spPr>
        <p:txBody>
          <a:bodyPr wrap="square" lIns="108000" tIns="108000" rIns="108000" bIns="10800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threats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 breaches, data-center failures, payment outages, natural disasters, vendor failures.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886200" y="1783080"/>
            <a:ext cx="2926080" cy="932688"/>
          </a:xfrm>
          <a:prstGeom prst="rect">
            <a:avLst/>
          </a:prstGeom>
          <a:solidFill>
            <a:srgbClr val="EAF8F0"/>
          </a:solidFill>
          <a:ln>
            <a:solidFill>
              <a:srgbClr val="DCE8E0"/>
            </a:solidFill>
          </a:ln>
        </p:spPr>
        <p:txBody>
          <a:bodyPr wrap="square" lIns="108000" tIns="108000" rIns="108000" bIns="10800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 functions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 processing, online banking, customer support, branch operations.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059168" y="1783080"/>
            <a:ext cx="2926080" cy="932688"/>
          </a:xfrm>
          <a:prstGeom prst="rect">
            <a:avLst/>
          </a:prstGeom>
          <a:solidFill>
            <a:srgbClr val="EEF7FF"/>
          </a:solidFill>
          <a:ln>
            <a:solidFill>
              <a:srgbClr val="BFD8FF"/>
            </a:solidFill>
          </a:ln>
        </p:spPr>
        <p:txBody>
          <a:bodyPr wrap="square" lIns="108000" tIns="108000" rIns="108000" bIns="10800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Backup solutions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backups, secondary data centers, redundant links, failover systems.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49808" y="3246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243A"/>
                </a:solidFill>
              </a:rPr>
              <a:t>RTO / RPO focus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" y="3611880"/>
            <a:ext cx="2331720" cy="393192"/>
          </a:xfrm>
          <a:prstGeom prst="rect">
            <a:avLst/>
          </a:prstGeom>
          <a:solidFill>
            <a:srgbClr val="00843D"/>
          </a:solidFill>
          <a:ln>
            <a:solidFill>
              <a:srgbClr val="DCE8E0"/>
            </a:solidFill>
          </a:ln>
        </p:spPr>
        <p:txBody>
          <a:bodyPr wrap="square" lIns="108000" tIns="108000" rIns="108000" bIns="10800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Function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310128" y="3611880"/>
            <a:ext cx="2971800" cy="393192"/>
          </a:xfrm>
          <a:prstGeom prst="rect">
            <a:avLst/>
          </a:prstGeom>
          <a:solidFill>
            <a:srgbClr val="00843D"/>
          </a:solidFill>
          <a:ln>
            <a:solidFill>
              <a:srgbClr val="DCE8E0"/>
            </a:solidFill>
          </a:ln>
        </p:spPr>
        <p:txBody>
          <a:bodyPr wrap="square" lIns="108000" tIns="108000" rIns="108000" bIns="108000" rtlCol="0" anchor="ctr">
            <a:normAutofit/>
          </a:bodyPr>
          <a:lstStyle/>
          <a:p>
            <a:r>
              <a:rPr lang="en-US" sz="1050" b="1">
                <a:solidFill>
                  <a:srgbClr val="FFFFFF"/>
                </a:solidFill>
              </a:rPr>
              <a:t>Recovery focus</a:t>
            </a:r>
            <a:endParaRPr lang="en-US" sz="1050" b="1" dirty="0">
              <a:solidFill>
                <a:srgbClr val="FFFFFF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92240" y="3611880"/>
            <a:ext cx="4069080" cy="393192"/>
          </a:xfrm>
          <a:prstGeom prst="rect">
            <a:avLst/>
          </a:prstGeom>
          <a:solidFill>
            <a:srgbClr val="00843D"/>
          </a:solidFill>
          <a:ln>
            <a:solidFill>
              <a:srgbClr val="DCE8E0"/>
            </a:solidFill>
          </a:ln>
        </p:spPr>
        <p:txBody>
          <a:bodyPr wrap="square" lIns="108000" tIns="108000" rIns="108000" bIns="108000" rtlCol="0" anchor="ctr">
            <a:normAutofit/>
          </a:bodyPr>
          <a:lstStyle/>
          <a:p>
            <a:r>
              <a:rPr lang="en-US" sz="1050" b="1">
                <a:solidFill>
                  <a:srgbClr val="FFFFFF"/>
                </a:solidFill>
              </a:rPr>
              <a:t>Continuity requirement</a:t>
            </a:r>
            <a:endParaRPr lang="en-US" sz="1050" b="1" dirty="0">
              <a:solidFill>
                <a:srgbClr val="FFFFFF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749808" y="4087368"/>
            <a:ext cx="233172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CE8E0"/>
            </a:solidFill>
          </a:ln>
        </p:spPr>
        <p:txBody>
          <a:bodyPr wrap="square" lIns="108000" tIns="108000" rIns="108000" bIns="10800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2212B"/>
                </a:solidFill>
              </a:rPr>
              <a:t>Payments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3310128" y="4087368"/>
            <a:ext cx="2971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CE8E0"/>
            </a:solidFill>
          </a:ln>
        </p:spPr>
        <p:txBody>
          <a:bodyPr wrap="square" lIns="108000" tIns="108000" rIns="108000" bIns="108000" rtlCol="0" anchor="ctr">
            <a:normAutofit/>
          </a:bodyPr>
          <a:lstStyle/>
          <a:p>
            <a:r>
              <a:rPr lang="en-US" sz="1020" dirty="0">
                <a:solidFill>
                  <a:srgbClr val="12212B"/>
                </a:solidFill>
              </a:rPr>
              <a:t>Fast </a:t>
            </a:r>
            <a:r>
              <a:rPr lang="en-US" sz="1020">
                <a:solidFill>
                  <a:srgbClr val="12212B"/>
                </a:solidFill>
              </a:rPr>
              <a:t>service restoration</a:t>
            </a:r>
            <a:endParaRPr lang="en-US" sz="1020" dirty="0">
              <a:solidFill>
                <a:srgbClr val="12212B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92240" y="4087368"/>
            <a:ext cx="40690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CE8E0"/>
            </a:solidFill>
          </a:ln>
        </p:spPr>
        <p:txBody>
          <a:bodyPr wrap="square" lIns="108000" tIns="108000" rIns="108000" bIns="108000" rtlCol="0" anchor="ctr">
            <a:normAutofit/>
          </a:bodyPr>
          <a:lstStyle/>
          <a:p>
            <a:r>
              <a:rPr lang="en-US" sz="1020" dirty="0">
                <a:solidFill>
                  <a:srgbClr val="12212B"/>
                </a:solidFill>
              </a:rPr>
              <a:t>Minimal </a:t>
            </a:r>
            <a:r>
              <a:rPr lang="en-US" sz="1020">
                <a:solidFill>
                  <a:srgbClr val="12212B"/>
                </a:solidFill>
              </a:rPr>
              <a:t>transaction interruption</a:t>
            </a:r>
            <a:endParaRPr lang="en-US" sz="1020" dirty="0">
              <a:solidFill>
                <a:srgbClr val="12212B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749808" y="4562856"/>
            <a:ext cx="2331720" cy="393192"/>
          </a:xfrm>
          <a:prstGeom prst="rect">
            <a:avLst/>
          </a:prstGeom>
          <a:solidFill>
            <a:srgbClr val="F5FAF7"/>
          </a:solidFill>
          <a:ln>
            <a:solidFill>
              <a:srgbClr val="DCE8E0"/>
            </a:solidFill>
          </a:ln>
        </p:spPr>
        <p:txBody>
          <a:bodyPr wrap="square" lIns="108000" tIns="108000" rIns="108000" bIns="10800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2212B"/>
                </a:solidFill>
              </a:rPr>
              <a:t>Online banking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3310128" y="4562856"/>
            <a:ext cx="2971800" cy="393192"/>
          </a:xfrm>
          <a:prstGeom prst="rect">
            <a:avLst/>
          </a:prstGeom>
          <a:solidFill>
            <a:srgbClr val="F5FAF7"/>
          </a:solidFill>
          <a:ln>
            <a:solidFill>
              <a:srgbClr val="DCE8E0"/>
            </a:solidFill>
          </a:ln>
        </p:spPr>
        <p:txBody>
          <a:bodyPr wrap="square" lIns="108000" tIns="108000" rIns="108000" bIns="108000" rtlCol="0" anchor="ctr">
            <a:normAutofit/>
          </a:bodyPr>
          <a:lstStyle/>
          <a:p>
            <a:r>
              <a:rPr lang="en-US" sz="1020" dirty="0">
                <a:solidFill>
                  <a:srgbClr val="12212B"/>
                </a:solidFill>
              </a:rPr>
              <a:t>Portal and </a:t>
            </a:r>
            <a:r>
              <a:rPr lang="en-US" sz="1020">
                <a:solidFill>
                  <a:srgbClr val="12212B"/>
                </a:solidFill>
              </a:rPr>
              <a:t>mobile availability</a:t>
            </a:r>
            <a:endParaRPr lang="en-US" sz="1020" dirty="0">
              <a:solidFill>
                <a:srgbClr val="12212B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92240" y="4562856"/>
            <a:ext cx="4069080" cy="393192"/>
          </a:xfrm>
          <a:prstGeom prst="rect">
            <a:avLst/>
          </a:prstGeom>
          <a:solidFill>
            <a:srgbClr val="F5FAF7"/>
          </a:solidFill>
          <a:ln>
            <a:solidFill>
              <a:srgbClr val="DCE8E0"/>
            </a:solidFill>
          </a:ln>
        </p:spPr>
        <p:txBody>
          <a:bodyPr wrap="square" lIns="108000" tIns="108000" rIns="108000" bIns="108000" rtlCol="0" anchor="ctr">
            <a:normAutofit/>
          </a:bodyPr>
          <a:lstStyle/>
          <a:p>
            <a:r>
              <a:rPr lang="en-US" sz="1020" dirty="0">
                <a:solidFill>
                  <a:srgbClr val="12212B"/>
                </a:solidFill>
              </a:rPr>
              <a:t>Customer </a:t>
            </a:r>
            <a:r>
              <a:rPr lang="en-US" sz="1020">
                <a:solidFill>
                  <a:srgbClr val="12212B"/>
                </a:solidFill>
              </a:rPr>
              <a:t>access preserved</a:t>
            </a:r>
            <a:endParaRPr lang="en-US" sz="1020" dirty="0">
              <a:solidFill>
                <a:srgbClr val="12212B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749808" y="5038344"/>
            <a:ext cx="233172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CE8E0"/>
            </a:solidFill>
          </a:ln>
        </p:spPr>
        <p:txBody>
          <a:bodyPr wrap="square" lIns="108000" tIns="108000" rIns="108000" bIns="108000" rtlCol="0" anchor="ctr">
            <a:normAutofit/>
          </a:bodyPr>
          <a:lstStyle/>
          <a:p>
            <a:r>
              <a:rPr lang="en-US" sz="1020">
                <a:solidFill>
                  <a:srgbClr val="12212B"/>
                </a:solidFill>
              </a:rPr>
              <a:t>Customer support</a:t>
            </a:r>
            <a:endParaRPr lang="en-US" sz="1020" dirty="0">
              <a:solidFill>
                <a:srgbClr val="12212B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3310128" y="5038344"/>
            <a:ext cx="2971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CE8E0"/>
            </a:solidFill>
          </a:ln>
        </p:spPr>
        <p:txBody>
          <a:bodyPr wrap="square" lIns="108000" tIns="108000" rIns="108000" bIns="108000" rtlCol="0" anchor="ctr">
            <a:normAutofit/>
          </a:bodyPr>
          <a:lstStyle/>
          <a:p>
            <a:r>
              <a:rPr lang="en-US" sz="1020" dirty="0">
                <a:solidFill>
                  <a:srgbClr val="12212B"/>
                </a:solidFill>
              </a:rPr>
              <a:t>Alternate </a:t>
            </a:r>
            <a:r>
              <a:rPr lang="en-US" sz="1020">
                <a:solidFill>
                  <a:srgbClr val="12212B"/>
                </a:solidFill>
              </a:rPr>
              <a:t>channels active</a:t>
            </a:r>
            <a:endParaRPr lang="en-US" sz="1020" dirty="0">
              <a:solidFill>
                <a:srgbClr val="12212B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92240" y="5038344"/>
            <a:ext cx="40690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CE8E0"/>
            </a:solidFill>
          </a:ln>
        </p:spPr>
        <p:txBody>
          <a:bodyPr wrap="square" lIns="108000" tIns="108000" rIns="108000" bIns="108000" rtlCol="0" anchor="ctr">
            <a:normAutofit/>
          </a:bodyPr>
          <a:lstStyle/>
          <a:p>
            <a:r>
              <a:rPr lang="en-US" sz="1020" dirty="0">
                <a:solidFill>
                  <a:srgbClr val="12212B"/>
                </a:solidFill>
              </a:rPr>
              <a:t>Clear </a:t>
            </a:r>
            <a:r>
              <a:rPr lang="en-US" sz="1020">
                <a:solidFill>
                  <a:srgbClr val="12212B"/>
                </a:solidFill>
              </a:rPr>
              <a:t>customer communication</a:t>
            </a:r>
            <a:endParaRPr lang="en-US" sz="1020" dirty="0">
              <a:solidFill>
                <a:srgbClr val="12212B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960120" y="5696712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0843D"/>
                </a:solidFill>
              </a:rPr>
              <a:t>Every critical function needs a named owner, recovery target, backup method, and testing evidence.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02920" y="651052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B7B83"/>
                </a:solidFill>
              </a:rPr>
              <a:t>Information Assurance  •  HBL Contingency Framework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843D"/>
                </a:solidFill>
              </a:rPr>
              <a:t>07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" y="6364224"/>
            <a:ext cx="11201400" cy="13716"/>
          </a:xfrm>
          <a:prstGeom prst="rect">
            <a:avLst/>
          </a:prstGeom>
          <a:solidFill>
            <a:srgbClr val="E7EEF2"/>
          </a:solidFill>
          <a:ln>
            <a:solidFill>
              <a:srgbClr val="E7EEF2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843D"/>
                </a:solidFill>
              </a:rPr>
              <a:t>IRP WORKFLOW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8243A"/>
                </a:solidFill>
              </a:rPr>
              <a:t>Incident response plan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625328" y="292608"/>
            <a:ext cx="868680" cy="292608"/>
          </a:xfrm>
          <a:prstGeom prst="rect">
            <a:avLst/>
          </a:prstGeom>
          <a:solidFill>
            <a:srgbClr val="00843D"/>
          </a:solidFill>
          <a:ln>
            <a:solidFill>
              <a:srgbClr val="00843D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HBL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1024128"/>
            <a:ext cx="81838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C6B73"/>
                </a:solidFill>
              </a:rPr>
              <a:t>A mature IRP reduces decision delays by assigning roles, standardizing actions, and defining communication paths before a crisis.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58368" y="1783080"/>
            <a:ext cx="1760220" cy="685800"/>
          </a:xfrm>
          <a:prstGeom prst="rect">
            <a:avLst/>
          </a:prstGeom>
          <a:solidFill>
            <a:srgbClr val="EAF8F0"/>
          </a:solidFill>
          <a:ln>
            <a:solidFill>
              <a:srgbClr val="EAF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43A"/>
                </a:solidFill>
              </a:rPr>
              <a:t>Detect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491740" y="1783080"/>
            <a:ext cx="1760220" cy="685800"/>
          </a:xfrm>
          <a:prstGeom prst="rect">
            <a:avLst/>
          </a:prstGeom>
          <a:solidFill>
            <a:srgbClr val="EEF7FF"/>
          </a:solidFill>
          <a:ln>
            <a:solidFill>
              <a:srgbClr val="EEF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43A"/>
                </a:solidFill>
              </a:rPr>
              <a:t>Triage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325112" y="1783080"/>
            <a:ext cx="1760220" cy="685800"/>
          </a:xfrm>
          <a:prstGeom prst="rect">
            <a:avLst/>
          </a:prstGeom>
          <a:solidFill>
            <a:srgbClr val="FFF6E8"/>
          </a:solidFill>
          <a:ln>
            <a:solidFill>
              <a:srgbClr val="FFF6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43A"/>
                </a:solidFill>
              </a:rPr>
              <a:t>Contain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158484" y="1783080"/>
            <a:ext cx="1760220" cy="685800"/>
          </a:xfrm>
          <a:prstGeom prst="rect">
            <a:avLst/>
          </a:prstGeom>
          <a:solidFill>
            <a:srgbClr val="FFF6F0"/>
          </a:solidFill>
          <a:ln>
            <a:solidFill>
              <a:srgbClr val="FFF6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43A"/>
                </a:solidFill>
              </a:rPr>
              <a:t>Eradicate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991856" y="1783080"/>
            <a:ext cx="1760220" cy="685800"/>
          </a:xfrm>
          <a:prstGeom prst="rect">
            <a:avLst/>
          </a:prstGeom>
          <a:solidFill>
            <a:srgbClr val="EAF8F0"/>
          </a:solidFill>
          <a:ln>
            <a:solidFill>
              <a:srgbClr val="EAF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43A"/>
                </a:solidFill>
              </a:rPr>
              <a:t>Recover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825228" y="1783080"/>
            <a:ext cx="1760220" cy="685800"/>
          </a:xfrm>
          <a:prstGeom prst="rect">
            <a:avLst/>
          </a:prstGeom>
          <a:solidFill>
            <a:srgbClr val="F3F5F7"/>
          </a:solidFill>
          <a:ln>
            <a:solidFill>
              <a:srgbClr val="F3F5F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43A"/>
                </a:solidFill>
              </a:rPr>
              <a:t>Review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49808" y="2852928"/>
            <a:ext cx="3154680" cy="1170432"/>
          </a:xfrm>
          <a:prstGeom prst="rect">
            <a:avLst/>
          </a:prstGeom>
          <a:solidFill>
            <a:srgbClr val="FFFFFF"/>
          </a:solidFill>
          <a:ln>
            <a:solidFill>
              <a:srgbClr val="DCE8E0"/>
            </a:solidFill>
          </a:ln>
        </p:spPr>
        <p:txBody>
          <a:bodyPr wrap="square" lIns="108000" tIns="108000" rIns="108000" bIns="10800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 response team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Defined owners for technical response, management approval, legal, communications, and regulatory reporting.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07408" y="2852928"/>
            <a:ext cx="3154680" cy="1170432"/>
          </a:xfrm>
          <a:prstGeom prst="rect">
            <a:avLst/>
          </a:prstGeom>
          <a:solidFill>
            <a:srgbClr val="F4FAFF"/>
          </a:solidFill>
          <a:ln>
            <a:solidFill>
              <a:srgbClr val="BFD8FF"/>
            </a:solidFill>
          </a:ln>
        </p:spPr>
        <p:txBody>
          <a:bodyPr wrap="square" lIns="108000" tIns="108000" rIns="108000" bIns="10800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procedures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Step-by-step playbooks for detection, containment, eradication, recovery, and evidence retention.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65008" y="2852928"/>
            <a:ext cx="3154680" cy="1170432"/>
          </a:xfrm>
          <a:prstGeom prst="rect">
            <a:avLst/>
          </a:prstGeom>
          <a:solidFill>
            <a:srgbClr val="EAF8F0"/>
          </a:solidFill>
          <a:ln>
            <a:solidFill>
              <a:srgbClr val="DCE8E0"/>
            </a:solidFill>
          </a:ln>
        </p:spPr>
        <p:txBody>
          <a:bodyPr wrap="square" lIns="108000" tIns="108000" rIns="108000" bIns="10800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 plan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 notifications for executives, regulators, employees, vendors, and impacted customers.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9808" y="470001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8243A"/>
                </a:solidFill>
              </a:rPr>
              <a:t>Escalation rule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2487168" y="4681728"/>
            <a:ext cx="8458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C6B73"/>
                </a:solidFill>
              </a:rPr>
              <a:t>High-impact incidents should be escalated immediately, contained quickly, and reviewed with documented lessons learned.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02920" y="651052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B7B83"/>
                </a:solidFill>
              </a:rPr>
              <a:t>Information Assurance  •  HBL Contingency Framework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843D"/>
                </a:solidFill>
              </a:rPr>
              <a:t>08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6364224"/>
            <a:ext cx="11201400" cy="13716"/>
          </a:xfrm>
          <a:prstGeom prst="rect">
            <a:avLst/>
          </a:prstGeom>
          <a:solidFill>
            <a:srgbClr val="E7EEF2"/>
          </a:solidFill>
          <a:ln>
            <a:solidFill>
              <a:srgbClr val="E7EEF2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843D"/>
                </a:solidFill>
              </a:rPr>
              <a:t>CONTINUITY AND RECOVERY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8243A"/>
                </a:solidFill>
              </a:rPr>
              <a:t>BCP and DRP integration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625328" y="292608"/>
            <a:ext cx="868680" cy="292608"/>
          </a:xfrm>
          <a:prstGeom prst="rect">
            <a:avLst/>
          </a:prstGeom>
          <a:solidFill>
            <a:srgbClr val="00843D"/>
          </a:solidFill>
          <a:ln>
            <a:solidFill>
              <a:srgbClr val="00843D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HBL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1024128"/>
            <a:ext cx="83210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C6B73"/>
                </a:solidFill>
              </a:rPr>
              <a:t>Business Continuity keeps priority services operating. Disaster Recovery restores the technology stack that supports those services.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13232" y="1737360"/>
            <a:ext cx="5120640" cy="1371600"/>
          </a:xfrm>
          <a:prstGeom prst="rect">
            <a:avLst/>
          </a:prstGeom>
          <a:solidFill>
            <a:srgbClr val="EAF8F0"/>
          </a:solidFill>
          <a:ln>
            <a:solidFill>
              <a:srgbClr val="DCE8E0"/>
            </a:solidFill>
          </a:ln>
        </p:spPr>
        <p:txBody>
          <a:bodyPr wrap="square" lIns="108000" tIns="108000" rIns="108000" bIns="10800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Continuity Plan (BCP)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Identifies critical processes, dependencies, alternate work locations, redundant infrastructure, crisis communication, and testing schedules.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355080" y="1737360"/>
            <a:ext cx="5120640" cy="1371600"/>
          </a:xfrm>
          <a:prstGeom prst="rect">
            <a:avLst/>
          </a:prstGeom>
          <a:solidFill>
            <a:srgbClr val="EEF7FF"/>
          </a:solidFill>
          <a:ln>
            <a:solidFill>
              <a:srgbClr val="BFD8FF"/>
            </a:solidFill>
          </a:ln>
        </p:spPr>
        <p:txBody>
          <a:bodyPr wrap="square" lIns="108000" tIns="108000" rIns="108000" bIns="10800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Disaster Recovery Plan (DRP)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Defines activation criteria, damage assessment, resource mobilization, data recovery, system restoration, and network connectivity.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13232" y="3675888"/>
            <a:ext cx="2095805" cy="658368"/>
          </a:xfrm>
          <a:prstGeom prst="rect">
            <a:avLst/>
          </a:prstGeom>
          <a:solidFill>
            <a:srgbClr val="EAF8F0"/>
          </a:solidFill>
          <a:ln>
            <a:solidFill>
              <a:srgbClr val="EAF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43A"/>
                </a:solidFill>
              </a:rPr>
              <a:t>Business impact analysis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882189" y="3675888"/>
            <a:ext cx="2095805" cy="658368"/>
          </a:xfrm>
          <a:prstGeom prst="rect">
            <a:avLst/>
          </a:prstGeom>
          <a:solidFill>
            <a:srgbClr val="EAF8F0"/>
          </a:solidFill>
          <a:ln>
            <a:solidFill>
              <a:srgbClr val="EAF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43A"/>
                </a:solidFill>
              </a:rPr>
              <a:t>Continuity strategy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51146" y="3675888"/>
            <a:ext cx="2095805" cy="658368"/>
          </a:xfrm>
          <a:prstGeom prst="rect">
            <a:avLst/>
          </a:prstGeom>
          <a:solidFill>
            <a:srgbClr val="EEF7FF"/>
          </a:solidFill>
          <a:ln>
            <a:solidFill>
              <a:srgbClr val="EEF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43A"/>
                </a:solidFill>
              </a:rPr>
              <a:t>DR activation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220102" y="3675888"/>
            <a:ext cx="2095805" cy="658368"/>
          </a:xfrm>
          <a:prstGeom prst="rect">
            <a:avLst/>
          </a:prstGeom>
          <a:solidFill>
            <a:srgbClr val="EEF7FF"/>
          </a:solidFill>
          <a:ln>
            <a:solidFill>
              <a:srgbClr val="EEF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43A"/>
                </a:solidFill>
              </a:rPr>
              <a:t>System restoration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389059" y="3675888"/>
            <a:ext cx="2095805" cy="658368"/>
          </a:xfrm>
          <a:prstGeom prst="rect">
            <a:avLst/>
          </a:prstGeom>
          <a:solidFill>
            <a:srgbClr val="F3F5F7"/>
          </a:solidFill>
          <a:ln>
            <a:solidFill>
              <a:srgbClr val="F3F5F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43A"/>
                </a:solidFill>
              </a:rPr>
              <a:t>Validation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05840" y="4800600"/>
            <a:ext cx="3063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8E0"/>
            </a:solidFill>
          </a:ln>
        </p:spPr>
        <p:txBody>
          <a:bodyPr wrap="square" lIns="108000" tIns="108000" rIns="108000" bIns="10800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Tabletop exercises, simulations, and full-scale drills.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53712" y="4800600"/>
            <a:ext cx="3063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8E0"/>
            </a:solidFill>
          </a:ln>
        </p:spPr>
        <p:txBody>
          <a:bodyPr wrap="square" lIns="108000" tIns="108000" rIns="108000" bIns="10800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reports, recovery times, issue logs, and approvals.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01584" y="4800600"/>
            <a:ext cx="3063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8E0"/>
            </a:solidFill>
          </a:ln>
        </p:spPr>
        <p:txBody>
          <a:bodyPr wrap="square" lIns="108000" tIns="108000" rIns="108000" bIns="10800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Lessons learned converted into updated playbooks.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651052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B7B83"/>
                </a:solidFill>
              </a:rPr>
              <a:t>Information Assurance  •  HBL Contingency Framework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843D"/>
                </a:solidFill>
              </a:rPr>
              <a:t>09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6364224"/>
            <a:ext cx="11201400" cy="13716"/>
          </a:xfrm>
          <a:prstGeom prst="rect">
            <a:avLst/>
          </a:prstGeom>
          <a:solidFill>
            <a:srgbClr val="E7EEF2"/>
          </a:solidFill>
          <a:ln>
            <a:solidFill>
              <a:srgbClr val="E7EEF2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843D"/>
                </a:solidFill>
              </a:rPr>
              <a:t>ACTION ROADMAP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8243A"/>
                </a:solidFill>
              </a:rPr>
              <a:t>Conclusions and recommendations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625328" y="292608"/>
            <a:ext cx="868680" cy="292608"/>
          </a:xfrm>
          <a:prstGeom prst="rect">
            <a:avLst/>
          </a:prstGeom>
          <a:solidFill>
            <a:srgbClr val="00843D"/>
          </a:solidFill>
          <a:ln>
            <a:solidFill>
              <a:srgbClr val="00843D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HBL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1024128"/>
            <a:ext cx="84124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C6B73"/>
                </a:solidFill>
              </a:rPr>
              <a:t>HBL maintains a strong foundation, but resilience depends on stronger testing discipline, automated monitoring, and awareness maturity.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1856232"/>
            <a:ext cx="384048" cy="384048"/>
          </a:xfrm>
          <a:prstGeom prst="rect">
            <a:avLst/>
          </a:prstGeom>
          <a:solidFill>
            <a:srgbClr val="00843D"/>
          </a:solidFill>
          <a:ln>
            <a:solidFill>
              <a:srgbClr val="00843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783080"/>
            <a:ext cx="96012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E8E0"/>
            </a:solidFill>
          </a:ln>
        </p:spPr>
        <p:txBody>
          <a:bodyPr wrap="square" lIns="108000" tIns="108000" rIns="108000" bIns="10800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regular drills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Quarterly tabletop exercises and annual full recovery simulations.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816352"/>
            <a:ext cx="384048" cy="384048"/>
          </a:xfrm>
          <a:prstGeom prst="rect">
            <a:avLst/>
          </a:prstGeom>
          <a:solidFill>
            <a:srgbClr val="00843D"/>
          </a:solidFill>
          <a:ln>
            <a:solidFill>
              <a:srgbClr val="00843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2743200"/>
            <a:ext cx="96012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E8E0"/>
            </a:solidFill>
          </a:ln>
        </p:spPr>
        <p:txBody>
          <a:bodyPr wrap="square" lIns="108000" tIns="108000" rIns="108000" bIns="10800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 monitoring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control checks, alert correlation, and executive dashboards.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776472"/>
            <a:ext cx="384048" cy="38404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3703320"/>
            <a:ext cx="96012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E8E0"/>
            </a:solidFill>
          </a:ln>
        </p:spPr>
        <p:txBody>
          <a:bodyPr wrap="square" lIns="108000" tIns="108000" rIns="108000" bIns="10800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 readiness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Role-based training, clear escalation, and post-incident reviews.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736592"/>
            <a:ext cx="384048" cy="38404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4663440"/>
            <a:ext cx="96012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E8E0"/>
            </a:solidFill>
          </a:ln>
        </p:spPr>
        <p:txBody>
          <a:bodyPr wrap="square" lIns="108000" tIns="108000" rIns="108000" bIns="10800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Modernize controls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2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hardening, patch governance, and threat intelligence integration.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56509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8243A"/>
                </a:solidFill>
              </a:rPr>
              <a:t>Final message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2578608" y="5641848"/>
            <a:ext cx="8366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843D"/>
                </a:solidFill>
              </a:rPr>
              <a:t>A tested contingency framework protects services, customers, compliance evidence, and institutional trust.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651052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B7B83"/>
                </a:solidFill>
              </a:rPr>
              <a:t>Information Assurance  •  HBL Contingency Framework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843D"/>
                </a:solidFill>
              </a:rPr>
              <a:t>10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6364224"/>
            <a:ext cx="11201400" cy="13716"/>
          </a:xfrm>
          <a:prstGeom prst="rect">
            <a:avLst/>
          </a:prstGeom>
          <a:solidFill>
            <a:srgbClr val="E7EEF2"/>
          </a:solidFill>
          <a:ln>
            <a:solidFill>
              <a:srgbClr val="E7EEF2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1056</Words>
  <Application>Microsoft Office PowerPoint</Application>
  <PresentationFormat>Widescreen</PresentationFormat>
  <Paragraphs>219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Contingency Framework for HBL</dc:title>
  <dc:subject>Improved Information Assurance presentation</dc:subject>
  <dc:creator>OpenAI</dc:creator>
  <cp:lastModifiedBy>Hussain Ali</cp:lastModifiedBy>
  <cp:revision>2</cp:revision>
  <dcterms:created xsi:type="dcterms:W3CDTF">2026-05-23T15:02:47Z</dcterms:created>
  <dcterms:modified xsi:type="dcterms:W3CDTF">2026-05-23T15:16:28Z</dcterms:modified>
</cp:coreProperties>
</file>